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3" r:id="rId9"/>
    <p:sldId id="279" r:id="rId10"/>
    <p:sldId id="265" r:id="rId11"/>
    <p:sldId id="266" r:id="rId12"/>
    <p:sldId id="274" r:id="rId13"/>
    <p:sldId id="267" r:id="rId14"/>
    <p:sldId id="275" r:id="rId15"/>
    <p:sldId id="277" r:id="rId16"/>
    <p:sldId id="278" r:id="rId17"/>
    <p:sldId id="271" r:id="rId18"/>
    <p:sldId id="269" r:id="rId19"/>
    <p:sldId id="280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3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32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96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744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960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2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707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139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1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80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68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232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8317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4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2861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324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621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473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9F8C53C-E26B-480B-9CF7-F26EF153E761}" type="datetimeFigureOut">
              <a:rPr lang="en-IN" smtClean="0"/>
              <a:t>08-06-2022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98CEF-2416-41F4-BEF1-5B071348E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670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896" y="4346670"/>
            <a:ext cx="10455964" cy="861421"/>
          </a:xfrm>
        </p:spPr>
        <p:txBody>
          <a:bodyPr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Discrimination of Normal and Abnormal Knee Joint VAG Signals Using EMD</a:t>
            </a:r>
            <a:b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b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Paper Id-92</a:t>
            </a:r>
            <a:br>
              <a:rPr lang="en-IN" sz="12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endParaRPr lang="en-IN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F4737EC-B8C0-4CFB-BB1D-32A0C5AAD1BA}"/>
              </a:ext>
            </a:extLst>
          </p:cNvPr>
          <p:cNvSpPr txBox="1">
            <a:spLocks/>
          </p:cNvSpPr>
          <p:nvPr/>
        </p:nvSpPr>
        <p:spPr>
          <a:xfrm>
            <a:off x="596348" y="251791"/>
            <a:ext cx="11039061" cy="18288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Conference on</a:t>
            </a:r>
            <a:endParaRPr lang="en-US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Electronics for Wireless Communication</a:t>
            </a:r>
            <a:endParaRPr lang="en-IN" sz="3600" b="1" dirty="0">
              <a:latin typeface="Arial Black" panose="020B0A040201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3FE66D2-F09D-4158-8640-55BB609D293E}"/>
              </a:ext>
            </a:extLst>
          </p:cNvPr>
          <p:cNvSpPr txBox="1">
            <a:spLocks/>
          </p:cNvSpPr>
          <p:nvPr/>
        </p:nvSpPr>
        <p:spPr>
          <a:xfrm>
            <a:off x="3103267" y="5562601"/>
            <a:ext cx="9340523" cy="7753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</a:rPr>
              <a:t>Authors name:- Abhishek Singh, Kapil Gupta, Varun Bajaj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41201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7318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                  </a:t>
            </a:r>
            <a:r>
              <a:rPr lang="en-US" u="sng" dirty="0">
                <a:latin typeface="Arial Black" panose="020B0A04020102020204" pitchFamily="34" charset="0"/>
              </a:rPr>
              <a:t>Outlines</a:t>
            </a:r>
            <a:endParaRPr lang="en-IN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628848"/>
            <a:ext cx="8946541" cy="4195481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Literature Survey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Work Map</a:t>
            </a:r>
          </a:p>
          <a:p>
            <a:r>
              <a:rPr lang="en-US" dirty="0"/>
              <a:t>Result Obtained</a:t>
            </a:r>
          </a:p>
          <a:p>
            <a:r>
              <a:rPr lang="en-US" dirty="0"/>
              <a:t>Advantages &amp; Future Scope </a:t>
            </a:r>
          </a:p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072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5417" y="439466"/>
            <a:ext cx="6748602" cy="863464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               </a:t>
            </a:r>
            <a:r>
              <a:rPr lang="en-US" b="1" u="sng" dirty="0">
                <a:latin typeface="Arial Black" panose="020B0A04020102020204" pitchFamily="34" charset="0"/>
              </a:rPr>
              <a:t>Introduction</a:t>
            </a:r>
            <a:endParaRPr lang="en-IN" b="1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word VAG stands 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Vibroarthrographic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Knee is one of the largest joint of our body that joins (Femur &amp; Tibia), and the signal VAG produced during the movement of leg (from flexion to extension).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VAG signals are non-stationary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 nature.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Its frequency changes continuously.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61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858" y="257549"/>
            <a:ext cx="10641106" cy="737534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Cont</a:t>
            </a:r>
            <a:r>
              <a:rPr lang="en-US" sz="2000" b="1" dirty="0"/>
              <a:t>….</a:t>
            </a:r>
            <a:endParaRPr lang="en-IN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 record this signal we have to put the setup on the knee and told the patient to swing his leg from 0 to 140 degree and 140 to 0 degree back.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91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2141" y="321391"/>
            <a:ext cx="10408920" cy="1189355"/>
          </a:xfrm>
        </p:spPr>
        <p:txBody>
          <a:bodyPr/>
          <a:lstStyle/>
          <a:p>
            <a:r>
              <a:rPr lang="en-US" b="1" u="sng" dirty="0"/>
              <a:t>Graphical Representation of VAG</a:t>
            </a:r>
            <a:endParaRPr lang="en-IN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2378955" y="4683130"/>
            <a:ext cx="7093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the graphical representation of VAG(one them is obtained from normal knee(a) and other from abnormal knee(b)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4C8581-902E-4CA0-983B-B57B9AEB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364" y="321392"/>
            <a:ext cx="10303252" cy="592700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                           Fig.No:1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                  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16E0AD-E779-45A6-9953-5437BF0795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91323" y="1609647"/>
            <a:ext cx="8068396" cy="297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0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6152" y="134469"/>
            <a:ext cx="5175895" cy="699247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Literature Survey</a:t>
            </a:r>
            <a:endParaRPr lang="en-IN" b="1" u="sn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535838"/>
              </p:ext>
            </p:extLst>
          </p:nvPr>
        </p:nvGraphicFramePr>
        <p:xfrm>
          <a:off x="599074" y="833716"/>
          <a:ext cx="11072973" cy="61780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67266">
                  <a:extLst>
                    <a:ext uri="{9D8B030D-6E8A-4147-A177-3AD203B41FA5}">
                      <a16:colId xmlns:a16="http://schemas.microsoft.com/office/drawing/2014/main" val="1550141760"/>
                    </a:ext>
                  </a:extLst>
                </a:gridCol>
                <a:gridCol w="1552066">
                  <a:extLst>
                    <a:ext uri="{9D8B030D-6E8A-4147-A177-3AD203B41FA5}">
                      <a16:colId xmlns:a16="http://schemas.microsoft.com/office/drawing/2014/main" val="3702025971"/>
                    </a:ext>
                  </a:extLst>
                </a:gridCol>
                <a:gridCol w="3778945">
                  <a:extLst>
                    <a:ext uri="{9D8B030D-6E8A-4147-A177-3AD203B41FA5}">
                      <a16:colId xmlns:a16="http://schemas.microsoft.com/office/drawing/2014/main" val="525882313"/>
                    </a:ext>
                  </a:extLst>
                </a:gridCol>
                <a:gridCol w="2874696">
                  <a:extLst>
                    <a:ext uri="{9D8B030D-6E8A-4147-A177-3AD203B41FA5}">
                      <a16:colId xmlns:a16="http://schemas.microsoft.com/office/drawing/2014/main" val="3728169105"/>
                    </a:ext>
                  </a:extLst>
                </a:gridCol>
              </a:tblGrid>
              <a:tr h="666125">
                <a:tc>
                  <a:txBody>
                    <a:bodyPr/>
                    <a:lstStyle/>
                    <a:p>
                      <a:r>
                        <a:rPr lang="en-US" dirty="0"/>
                        <a:t>            References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Titles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Observations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709910"/>
                  </a:ext>
                </a:extLst>
              </a:tr>
              <a:tr h="1310594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  <a:p>
                      <a:r>
                        <a:rPr lang="en-US" dirty="0"/>
                        <a:t>      </a:t>
                      </a:r>
                      <a:r>
                        <a:rPr lang="en-IN" dirty="0"/>
                        <a:t>Rangaraj M.    </a:t>
                      </a:r>
                    </a:p>
                    <a:p>
                      <a:r>
                        <a:rPr lang="en-IN" baseline="0" dirty="0"/>
                        <a:t>      </a:t>
                      </a:r>
                      <a:r>
                        <a:rPr lang="en-IN" dirty="0"/>
                        <a:t>Rangayyan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    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en-US" dirty="0"/>
                        <a:t>        2010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Screening</a:t>
                      </a:r>
                      <a:r>
                        <a:rPr lang="en-US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knee-joint vibroarthrographic signals using probability density functions estimated with Parzen windows</a:t>
                      </a:r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 up the Understandings of</a:t>
                      </a:r>
                      <a:r>
                        <a:rPr lang="en-US" baseline="0" dirty="0"/>
                        <a:t> VAG. And found</a:t>
                      </a:r>
                      <a:r>
                        <a:rPr lang="en-US" dirty="0"/>
                        <a:t> unnecessary calculation</a:t>
                      </a:r>
                      <a:r>
                        <a:rPr lang="en-US" baseline="0" dirty="0"/>
                        <a:t> complexity was used.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88545"/>
                  </a:ext>
                </a:extLst>
              </a:tr>
              <a:tr h="1478752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  <a:p>
                      <a:r>
                        <a:rPr lang="en-US" dirty="0"/>
                        <a:t>    Manish</a:t>
                      </a:r>
                      <a:r>
                        <a:rPr lang="en-US" baseline="0" dirty="0"/>
                        <a:t> Sharma,</a:t>
                      </a:r>
                    </a:p>
                    <a:p>
                      <a:r>
                        <a:rPr lang="en-US" baseline="0" dirty="0"/>
                        <a:t>    R.B .Pachori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 2018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DDDTCWT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based feature for automated screening for knee joints VAG signals.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Sub-band filtration technique is used for decomposition, mean</a:t>
                      </a:r>
                      <a:r>
                        <a:rPr lang="en-US" baseline="0" dirty="0"/>
                        <a:t> data available in particular section of signal is used.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643922"/>
                  </a:ext>
                </a:extLst>
              </a:tr>
              <a:tr h="1945726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Manish Sharma,</a:t>
                      </a:r>
                    </a:p>
                    <a:p>
                      <a:r>
                        <a:rPr lang="en-US" dirty="0"/>
                        <a:t>   U. Rajendra Acharya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baseline="0" dirty="0"/>
                        <a:t>       2018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Analysis of knee-joint vibroarthographic signals using</a:t>
                      </a:r>
                    </a:p>
                    <a:p>
                      <a:pPr algn="just"/>
                      <a:r>
                        <a:rPr lang="en-US" dirty="0"/>
                        <a:t>bandwidth-duration localized three-channel filter bank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Latest accuracy quoted in the classification.(88%)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974841"/>
                  </a:ext>
                </a:extLst>
              </a:tr>
              <a:tr h="31556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443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89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7540"/>
            <a:ext cx="10515600" cy="45604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</a:t>
            </a:r>
            <a:r>
              <a:rPr lang="en-US" dirty="0"/>
              <a:t>…..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1860133"/>
              </p:ext>
            </p:extLst>
          </p:nvPr>
        </p:nvGraphicFramePr>
        <p:xfrm>
          <a:off x="730624" y="1284569"/>
          <a:ext cx="10515600" cy="3017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913036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455275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150585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73502742"/>
                    </a:ext>
                  </a:extLst>
                </a:gridCol>
              </a:tblGrid>
              <a:tr h="30083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394672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4. Mrunal M.       </a:t>
                      </a:r>
                    </a:p>
                    <a:p>
                      <a:r>
                        <a:rPr lang="en-US" baseline="0" dirty="0"/>
                        <a:t>    </a:t>
                      </a:r>
                      <a:r>
                        <a:rPr lang="en-US" dirty="0"/>
                        <a:t>Shidore</a:t>
                      </a:r>
                    </a:p>
                    <a:p>
                      <a:r>
                        <a:rPr lang="en-US" dirty="0"/>
                        <a:t>   Shreeram S.    </a:t>
                      </a:r>
                    </a:p>
                    <a:p>
                      <a:r>
                        <a:rPr lang="en-US" baseline="0" dirty="0"/>
                        <a:t>   </a:t>
                      </a:r>
                      <a:r>
                        <a:rPr lang="en-US" dirty="0"/>
                        <a:t>Athreya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2021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Screening of knee-joint vibroarthrographic signals using time and spectral </a:t>
                      </a:r>
                    </a:p>
                    <a:p>
                      <a:pPr algn="just"/>
                      <a:r>
                        <a:rPr lang="en-US" dirty="0"/>
                        <a:t>domain features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Wavelet based decomposition is used to decompose the signal, in which some information where lost while decomposing of raw signal .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897169"/>
                  </a:ext>
                </a:extLst>
              </a:tr>
              <a:tr h="30083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23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09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3103" y="479222"/>
            <a:ext cx="6052862" cy="988155"/>
          </a:xfrm>
        </p:spPr>
        <p:txBody>
          <a:bodyPr/>
          <a:lstStyle/>
          <a:p>
            <a:r>
              <a:rPr lang="en-US" dirty="0"/>
              <a:t>                     </a:t>
            </a:r>
            <a:r>
              <a:rPr lang="en-US" b="1" u="sng" dirty="0"/>
              <a:t>Motivation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9573653" cy="4195481"/>
          </a:xfrm>
        </p:spPr>
        <p:txBody>
          <a:bodyPr/>
          <a:lstStyle/>
          <a:p>
            <a:pPr algn="just"/>
            <a:r>
              <a:rPr lang="en-US" dirty="0"/>
              <a:t>To reduce the data losses during decomposition of signal.</a:t>
            </a:r>
          </a:p>
          <a:p>
            <a:pPr algn="just"/>
            <a:r>
              <a:rPr lang="en-US" dirty="0"/>
              <a:t>To increase the classification accuracy of VAG signals by reducing calculation complexity.</a:t>
            </a:r>
          </a:p>
          <a:p>
            <a:pPr algn="just"/>
            <a:r>
              <a:rPr lang="en-US" dirty="0"/>
              <a:t>In nowadays technique that are used to diagnosis the knees are X-ray scan , MRI scan and other invasive method are also used , but the issue with these technique are that patient have to wait to get the report.</a:t>
            </a:r>
          </a:p>
          <a:p>
            <a:pPr algn="just"/>
            <a:r>
              <a:rPr lang="en-US" dirty="0"/>
              <a:t>And a concerned experts are also required to operate these heavy machines ,and these machines are also very expensive.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568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B085-3CDF-49BE-9483-325FA7C0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235" y="452718"/>
            <a:ext cx="6188765" cy="886616"/>
          </a:xfrm>
        </p:spPr>
        <p:txBody>
          <a:bodyPr/>
          <a:lstStyle/>
          <a:p>
            <a:r>
              <a:rPr lang="en-IN" dirty="0"/>
              <a:t>                      </a:t>
            </a:r>
            <a:r>
              <a:rPr lang="en-IN" b="1" u="sng" dirty="0"/>
              <a:t>Work 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74141B-7249-4645-8FBA-F2AC7028E1E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0566" y="1808620"/>
            <a:ext cx="4910868" cy="4433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20BDF5-2674-4FFF-9A33-356930C6DC82}"/>
              </a:ext>
            </a:extLst>
          </p:cNvPr>
          <p:cNvSpPr txBox="1"/>
          <p:nvPr/>
        </p:nvSpPr>
        <p:spPr>
          <a:xfrm>
            <a:off x="5307495" y="1339334"/>
            <a:ext cx="1577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Fig No:-1</a:t>
            </a:r>
          </a:p>
        </p:txBody>
      </p:sp>
    </p:spTree>
    <p:extLst>
      <p:ext uri="{BB962C8B-B14F-4D97-AF65-F5344CB8AC3E}">
        <p14:creationId xmlns:p14="http://schemas.microsoft.com/office/powerpoint/2010/main" val="2116887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587" y="452718"/>
            <a:ext cx="6548777" cy="1400530"/>
          </a:xfrm>
        </p:spPr>
        <p:txBody>
          <a:bodyPr/>
          <a:lstStyle/>
          <a:p>
            <a:r>
              <a:rPr lang="en-US" dirty="0"/>
              <a:t>                       </a:t>
            </a:r>
            <a:r>
              <a:rPr lang="en-US" b="1" u="sng" dirty="0"/>
              <a:t>Data Set</a:t>
            </a:r>
            <a:r>
              <a:rPr lang="en-US" dirty="0"/>
              <a:t>      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58" y="1853248"/>
            <a:ext cx="10340706" cy="4195481"/>
          </a:xfrm>
        </p:spPr>
        <p:txBody>
          <a:bodyPr/>
          <a:lstStyle/>
          <a:p>
            <a:pPr algn="just"/>
            <a:r>
              <a:rPr lang="en-US" dirty="0"/>
              <a:t>The signal set that we took to proceed our work is a set of 89 signals (38 are ABNORMALs &amp; 51 are NORMALs). </a:t>
            </a:r>
          </a:p>
          <a:p>
            <a:pPr algn="just"/>
            <a:r>
              <a:rPr lang="en-US" dirty="0"/>
              <a:t>Signal is non-stationary in nature.</a:t>
            </a:r>
          </a:p>
          <a:p>
            <a:pPr algn="just"/>
            <a:r>
              <a:rPr lang="en-US" dirty="0"/>
              <a:t>The signal was recorded in the laboratory of University of Calgary, Canada.</a:t>
            </a:r>
          </a:p>
          <a:p>
            <a:pPr algn="just"/>
            <a:r>
              <a:rPr lang="en-US" dirty="0"/>
              <a:t>Sampling frequency of data set is 2Khz.</a:t>
            </a:r>
          </a:p>
          <a:p>
            <a:pPr algn="just"/>
            <a:r>
              <a:rPr lang="en-US" dirty="0"/>
              <a:t>Recording time of signal is 4 sec.</a:t>
            </a:r>
            <a:endParaRPr lang="en-IN" dirty="0"/>
          </a:p>
          <a:p>
            <a:pPr algn="just"/>
            <a:r>
              <a:rPr lang="en-US" dirty="0"/>
              <a:t>And signal was pre-filtered (10Hz to 1000Hz) and then amplified 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4904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6372" y="402394"/>
            <a:ext cx="9404723" cy="1400530"/>
          </a:xfrm>
        </p:spPr>
        <p:txBody>
          <a:bodyPr/>
          <a:lstStyle/>
          <a:p>
            <a:r>
              <a:rPr lang="en-US" dirty="0"/>
              <a:t>           </a:t>
            </a:r>
            <a:r>
              <a:rPr lang="en-US" b="1" u="sng" dirty="0"/>
              <a:t>Decomposition of Signals</a:t>
            </a:r>
            <a:br>
              <a:rPr lang="en-US" dirty="0"/>
            </a:br>
            <a:r>
              <a:rPr lang="en-US" dirty="0"/>
              <a:t>                         </a:t>
            </a:r>
            <a:r>
              <a:rPr lang="en-US" b="1" u="sng" dirty="0"/>
              <a:t>EMD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702423"/>
          </a:xfrm>
        </p:spPr>
        <p:txBody>
          <a:bodyPr/>
          <a:lstStyle/>
          <a:p>
            <a:pPr algn="just"/>
            <a:r>
              <a:rPr lang="en-US" dirty="0"/>
              <a:t>EMD stands for Empirical Mode of Decomposition.</a:t>
            </a:r>
          </a:p>
          <a:p>
            <a:pPr algn="just"/>
            <a:r>
              <a:rPr lang="en-US" dirty="0"/>
              <a:t>It decomposes the function into sum of IMFs.</a:t>
            </a:r>
          </a:p>
          <a:p>
            <a:pPr algn="just"/>
            <a:r>
              <a:rPr lang="en-US" dirty="0"/>
              <a:t>Each IMFs have to satisfy two basic </a:t>
            </a:r>
            <a:r>
              <a:rPr lang="en-US"/>
              <a:t>conditions.</a:t>
            </a:r>
            <a:endParaRPr lang="en-US" dirty="0"/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The number of extrema &amp; zero crossing must be equal or differ max by one.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 At any point, mean value of the envelope define by local minima &amp; and envelope define by local maxima is zero.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50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59D2E4-3361-4E5C-A1D2-3ED45D29D1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23254" y="1250944"/>
            <a:ext cx="8341164" cy="51886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4CA813-4246-4161-90CE-C5E5514A29CB}"/>
              </a:ext>
            </a:extLst>
          </p:cNvPr>
          <p:cNvSpPr txBox="1"/>
          <p:nvPr/>
        </p:nvSpPr>
        <p:spPr>
          <a:xfrm>
            <a:off x="5443871" y="583096"/>
            <a:ext cx="380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Fig No:-2</a:t>
            </a:r>
          </a:p>
        </p:txBody>
      </p:sp>
    </p:spTree>
    <p:extLst>
      <p:ext uri="{BB962C8B-B14F-4D97-AF65-F5344CB8AC3E}">
        <p14:creationId xmlns:p14="http://schemas.microsoft.com/office/powerpoint/2010/main" val="4059861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5435"/>
          </a:xfrm>
        </p:spPr>
        <p:txBody>
          <a:bodyPr/>
          <a:lstStyle/>
          <a:p>
            <a:r>
              <a:rPr lang="en-US" dirty="0"/>
              <a:t>                             </a:t>
            </a:r>
            <a:r>
              <a:rPr lang="en-US" b="1" u="sng" dirty="0"/>
              <a:t>Features Extraction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58154"/>
            <a:ext cx="8946541" cy="489024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Mean</a:t>
            </a:r>
          </a:p>
          <a:p>
            <a:r>
              <a:rPr lang="en-US" dirty="0"/>
              <a:t>Root Mean Squared(RMS)</a:t>
            </a:r>
          </a:p>
          <a:p>
            <a:r>
              <a:rPr lang="en-US" dirty="0"/>
              <a:t>Standard Deviation</a:t>
            </a:r>
          </a:p>
          <a:p>
            <a:r>
              <a:rPr lang="en-US" dirty="0" err="1"/>
              <a:t>Shanon</a:t>
            </a:r>
            <a:r>
              <a:rPr lang="en-US" dirty="0"/>
              <a:t> Entropy (</a:t>
            </a:r>
            <a:r>
              <a:rPr lang="en-US" dirty="0" err="1"/>
              <a:t>ShanEn</a:t>
            </a:r>
            <a:r>
              <a:rPr lang="en-US" dirty="0"/>
              <a:t>)</a:t>
            </a:r>
          </a:p>
          <a:p>
            <a:r>
              <a:rPr lang="en-US" dirty="0"/>
              <a:t>Log Energy Entropy (</a:t>
            </a:r>
            <a:r>
              <a:rPr lang="en-US" dirty="0" err="1"/>
              <a:t>LogEn</a:t>
            </a:r>
            <a:r>
              <a:rPr lang="en-US" dirty="0"/>
              <a:t>)</a:t>
            </a:r>
          </a:p>
          <a:p>
            <a:r>
              <a:rPr lang="en-US" dirty="0"/>
              <a:t>Threshold Entropy(TE)</a:t>
            </a:r>
          </a:p>
          <a:p>
            <a:r>
              <a:rPr lang="en-US" dirty="0"/>
              <a:t>Sure Entropy(SE)</a:t>
            </a:r>
          </a:p>
          <a:p>
            <a:r>
              <a:rPr lang="en-US" dirty="0"/>
              <a:t>Norm Entropy(NE)</a:t>
            </a:r>
          </a:p>
          <a:p>
            <a:r>
              <a:rPr lang="en-US" dirty="0"/>
              <a:t>Permutation Entropy(PE)</a:t>
            </a:r>
          </a:p>
          <a:p>
            <a:r>
              <a:rPr lang="en-US" dirty="0"/>
              <a:t>Skewness(</a:t>
            </a:r>
            <a:r>
              <a:rPr lang="en-US" dirty="0" err="1"/>
              <a:t>Sk</a:t>
            </a:r>
            <a:r>
              <a:rPr lang="en-US" dirty="0"/>
              <a:t>)</a:t>
            </a:r>
          </a:p>
          <a:p>
            <a:r>
              <a:rPr lang="en-US" dirty="0"/>
              <a:t>Kurtosis(K)</a:t>
            </a:r>
          </a:p>
          <a:p>
            <a:r>
              <a:rPr lang="en-US" dirty="0"/>
              <a:t>Simple Squared Integral(SSI)</a:t>
            </a:r>
          </a:p>
        </p:txBody>
      </p:sp>
    </p:spTree>
    <p:extLst>
      <p:ext uri="{BB962C8B-B14F-4D97-AF65-F5344CB8AC3E}">
        <p14:creationId xmlns:p14="http://schemas.microsoft.com/office/powerpoint/2010/main" val="1583577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4F29-1E30-44E3-9C59-A9C792DF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65970"/>
            <a:ext cx="9404723" cy="960446"/>
          </a:xfrm>
        </p:spPr>
        <p:txBody>
          <a:bodyPr/>
          <a:lstStyle/>
          <a:p>
            <a:r>
              <a:rPr lang="en-US" dirty="0"/>
              <a:t>             </a:t>
            </a:r>
            <a:r>
              <a:rPr lang="en-US" b="1" u="sng" dirty="0"/>
              <a:t>Kruskal-Wallis Test(KW Test)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8A23A-7E32-48AB-938E-59CC1FD32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060874" cy="2838059"/>
          </a:xfrm>
        </p:spPr>
        <p:txBody>
          <a:bodyPr/>
          <a:lstStyle/>
          <a:p>
            <a:r>
              <a:rPr lang="en-US" dirty="0"/>
              <a:t>The KW test is a more generalized form of two class Wilcoxon rank test and one way analysis of variance (ANOVA) test.</a:t>
            </a:r>
            <a:endParaRPr lang="en-IN" dirty="0"/>
          </a:p>
          <a:p>
            <a:r>
              <a:rPr lang="en-US" dirty="0"/>
              <a:t>KW is a non parametric statistical test that compares the </a:t>
            </a:r>
            <a:r>
              <a:rPr lang="en-US" dirty="0" err="1"/>
              <a:t>contempts</a:t>
            </a:r>
            <a:r>
              <a:rPr lang="en-US" dirty="0"/>
              <a:t> between two or more distinguishable sampled classes on single.</a:t>
            </a:r>
          </a:p>
          <a:p>
            <a:r>
              <a:rPr lang="en-IN" dirty="0"/>
              <a:t>The result of KW test shown by the help of </a:t>
            </a:r>
            <a:r>
              <a:rPr lang="en-IN"/>
              <a:t>Box Plots.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708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0AD80C-0803-46E2-901B-DDFA6CC69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948173"/>
              </p:ext>
            </p:extLst>
          </p:nvPr>
        </p:nvGraphicFramePr>
        <p:xfrm>
          <a:off x="757182" y="1207756"/>
          <a:ext cx="9961418" cy="52974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6254">
                  <a:extLst>
                    <a:ext uri="{9D8B030D-6E8A-4147-A177-3AD203B41FA5}">
                      <a16:colId xmlns:a16="http://schemas.microsoft.com/office/drawing/2014/main" val="182129473"/>
                    </a:ext>
                  </a:extLst>
                </a:gridCol>
                <a:gridCol w="1414412">
                  <a:extLst>
                    <a:ext uri="{9D8B030D-6E8A-4147-A177-3AD203B41FA5}">
                      <a16:colId xmlns:a16="http://schemas.microsoft.com/office/drawing/2014/main" val="1031696124"/>
                    </a:ext>
                  </a:extLst>
                </a:gridCol>
                <a:gridCol w="1567757">
                  <a:extLst>
                    <a:ext uri="{9D8B030D-6E8A-4147-A177-3AD203B41FA5}">
                      <a16:colId xmlns:a16="http://schemas.microsoft.com/office/drawing/2014/main" val="400441671"/>
                    </a:ext>
                  </a:extLst>
                </a:gridCol>
                <a:gridCol w="1176323">
                  <a:extLst>
                    <a:ext uri="{9D8B030D-6E8A-4147-A177-3AD203B41FA5}">
                      <a16:colId xmlns:a16="http://schemas.microsoft.com/office/drawing/2014/main" val="403399333"/>
                    </a:ext>
                  </a:extLst>
                </a:gridCol>
                <a:gridCol w="1176323">
                  <a:extLst>
                    <a:ext uri="{9D8B030D-6E8A-4147-A177-3AD203B41FA5}">
                      <a16:colId xmlns:a16="http://schemas.microsoft.com/office/drawing/2014/main" val="1414351886"/>
                    </a:ext>
                  </a:extLst>
                </a:gridCol>
                <a:gridCol w="1176323">
                  <a:extLst>
                    <a:ext uri="{9D8B030D-6E8A-4147-A177-3AD203B41FA5}">
                      <a16:colId xmlns:a16="http://schemas.microsoft.com/office/drawing/2014/main" val="1030340308"/>
                    </a:ext>
                  </a:extLst>
                </a:gridCol>
                <a:gridCol w="2054026">
                  <a:extLst>
                    <a:ext uri="{9D8B030D-6E8A-4147-A177-3AD203B41FA5}">
                      <a16:colId xmlns:a16="http://schemas.microsoft.com/office/drawing/2014/main" val="1920426905"/>
                    </a:ext>
                  </a:extLst>
                </a:gridCol>
              </a:tblGrid>
              <a:tr h="336633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 No.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ShanEn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LogEn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NE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TE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PE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SrE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3506245758"/>
                  </a:ext>
                </a:extLst>
              </a:tr>
              <a:tr h="620098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IMF-1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0.0065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 × 10</a:t>
                      </a:r>
                      <a:r>
                        <a:rPr lang="en-IN" sz="1600" baseline="30000">
                          <a:effectLst/>
                        </a:rPr>
                        <a:t>−5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0.0002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0.0002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0.0449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1.28 × 10</a:t>
                      </a:r>
                      <a:r>
                        <a:rPr lang="en-IN" sz="1600" baseline="30000">
                          <a:effectLst/>
                        </a:rPr>
                        <a:t>−5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3304823626"/>
                  </a:ext>
                </a:extLst>
              </a:tr>
              <a:tr h="620098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IMF-2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0.0573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0.0472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0.0377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0.0001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0.7553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0.0407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2602537603"/>
                  </a:ext>
                </a:extLst>
              </a:tr>
              <a:tr h="620098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IMF-3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0.868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0.2531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0.7084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0.0039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0.4001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0.2531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950301552"/>
                  </a:ext>
                </a:extLst>
              </a:tr>
              <a:tr h="620098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IMF-4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0.4298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0.5061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0.3136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0.4703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0.0018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0.3943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811905497"/>
                  </a:ext>
                </a:extLst>
              </a:tr>
              <a:tr h="620098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IMF-5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0.4671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0.2707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0.3237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0.0428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0.0016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0.1735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1418711099"/>
                  </a:ext>
                </a:extLst>
              </a:tr>
              <a:tr h="620098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IMF-6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0.9255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0.8926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0.9503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0.3448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0.2619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0.9255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2149709231"/>
                  </a:ext>
                </a:extLst>
              </a:tr>
              <a:tr h="620098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IMF-7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0.7711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0.868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0.9669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0.8762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0.7474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0.9388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2360815621"/>
                  </a:ext>
                </a:extLst>
              </a:tr>
              <a:tr h="620098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IMF-8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0.9751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0.5962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0.8031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0.589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0.7632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0.8926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25030996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DD75B29-78DC-436C-B2CC-83B890E8127F}"/>
              </a:ext>
            </a:extLst>
          </p:cNvPr>
          <p:cNvSpPr txBox="1"/>
          <p:nvPr/>
        </p:nvSpPr>
        <p:spPr>
          <a:xfrm>
            <a:off x="5141843" y="636104"/>
            <a:ext cx="217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Table No:-1</a:t>
            </a:r>
          </a:p>
        </p:txBody>
      </p:sp>
    </p:spTree>
    <p:extLst>
      <p:ext uri="{BB962C8B-B14F-4D97-AF65-F5344CB8AC3E}">
        <p14:creationId xmlns:p14="http://schemas.microsoft.com/office/powerpoint/2010/main" val="3213199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559C26-FE10-4F99-8049-0D4A5E800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379433"/>
              </p:ext>
            </p:extLst>
          </p:nvPr>
        </p:nvGraphicFramePr>
        <p:xfrm>
          <a:off x="744280" y="1020726"/>
          <a:ext cx="9696891" cy="49278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9176">
                  <a:extLst>
                    <a:ext uri="{9D8B030D-6E8A-4147-A177-3AD203B41FA5}">
                      <a16:colId xmlns:a16="http://schemas.microsoft.com/office/drawing/2014/main" val="3413887198"/>
                    </a:ext>
                  </a:extLst>
                </a:gridCol>
                <a:gridCol w="1376853">
                  <a:extLst>
                    <a:ext uri="{9D8B030D-6E8A-4147-A177-3AD203B41FA5}">
                      <a16:colId xmlns:a16="http://schemas.microsoft.com/office/drawing/2014/main" val="1433437813"/>
                    </a:ext>
                  </a:extLst>
                </a:gridCol>
                <a:gridCol w="1526126">
                  <a:extLst>
                    <a:ext uri="{9D8B030D-6E8A-4147-A177-3AD203B41FA5}">
                      <a16:colId xmlns:a16="http://schemas.microsoft.com/office/drawing/2014/main" val="3736175993"/>
                    </a:ext>
                  </a:extLst>
                </a:gridCol>
                <a:gridCol w="1145085">
                  <a:extLst>
                    <a:ext uri="{9D8B030D-6E8A-4147-A177-3AD203B41FA5}">
                      <a16:colId xmlns:a16="http://schemas.microsoft.com/office/drawing/2014/main" val="738449691"/>
                    </a:ext>
                  </a:extLst>
                </a:gridCol>
                <a:gridCol w="1145085">
                  <a:extLst>
                    <a:ext uri="{9D8B030D-6E8A-4147-A177-3AD203B41FA5}">
                      <a16:colId xmlns:a16="http://schemas.microsoft.com/office/drawing/2014/main" val="2676859035"/>
                    </a:ext>
                  </a:extLst>
                </a:gridCol>
                <a:gridCol w="1145085">
                  <a:extLst>
                    <a:ext uri="{9D8B030D-6E8A-4147-A177-3AD203B41FA5}">
                      <a16:colId xmlns:a16="http://schemas.microsoft.com/office/drawing/2014/main" val="3727005717"/>
                    </a:ext>
                  </a:extLst>
                </a:gridCol>
                <a:gridCol w="1999481">
                  <a:extLst>
                    <a:ext uri="{9D8B030D-6E8A-4147-A177-3AD203B41FA5}">
                      <a16:colId xmlns:a16="http://schemas.microsoft.com/office/drawing/2014/main" val="4147600516"/>
                    </a:ext>
                  </a:extLst>
                </a:gridCol>
              </a:tblGrid>
              <a:tr h="313148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 No.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err="1">
                          <a:effectLst/>
                        </a:rPr>
                        <a:t>ShanEn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LogEn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NE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TE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PE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SrE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2029869316"/>
                  </a:ext>
                </a:extLst>
              </a:tr>
              <a:tr h="576839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IMF-1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0.0065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 × 10</a:t>
                      </a:r>
                      <a:r>
                        <a:rPr lang="en-IN" sz="1600" baseline="30000">
                          <a:effectLst/>
                        </a:rPr>
                        <a:t>−5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0.0002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0.0002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0.0449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1.28 × 10</a:t>
                      </a:r>
                      <a:r>
                        <a:rPr lang="en-IN" sz="1600" baseline="30000">
                          <a:effectLst/>
                        </a:rPr>
                        <a:t>−5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3345135138"/>
                  </a:ext>
                </a:extLst>
              </a:tr>
              <a:tr h="576839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IMF-2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0.0573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0.0472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0.0377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0.0001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0.7553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0.0407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3103402430"/>
                  </a:ext>
                </a:extLst>
              </a:tr>
              <a:tr h="576839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IMF-3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0.868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0.2531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0.7084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0.0039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0.4001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0.2531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2875976125"/>
                  </a:ext>
                </a:extLst>
              </a:tr>
              <a:tr h="576839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IMF-4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0.4298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0.5061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0.3136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0.4703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0.0018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0.3943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2421409111"/>
                  </a:ext>
                </a:extLst>
              </a:tr>
              <a:tr h="576839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IMF-5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0.4671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0.2707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0.3237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0.0428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0.0016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0.1735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302288348"/>
                  </a:ext>
                </a:extLst>
              </a:tr>
              <a:tr h="576839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IMF-6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0.9255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0.8926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0.9503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0.3448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0.2619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0.9255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1294618354"/>
                  </a:ext>
                </a:extLst>
              </a:tr>
              <a:tr h="576839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IMF-7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0.7711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0.868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0.9669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0.8762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0.7474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0.9388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378903164"/>
                  </a:ext>
                </a:extLst>
              </a:tr>
              <a:tr h="576839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IMF-8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0.9751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0.5962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0.8031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0.589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0.7632</a:t>
                      </a:r>
                      <a:endParaRPr lang="en-IN" sz="16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0.8926</a:t>
                      </a:r>
                      <a:endParaRPr lang="en-IN" sz="16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17780" marR="17780" marT="12065" marB="0"/>
                </a:tc>
                <a:extLst>
                  <a:ext uri="{0D108BD9-81ED-4DB2-BD59-A6C34878D82A}">
                    <a16:rowId xmlns:a16="http://schemas.microsoft.com/office/drawing/2014/main" val="32711174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4383ACD-15CC-4974-B2B9-FF4769D1D0B3}"/>
              </a:ext>
            </a:extLst>
          </p:cNvPr>
          <p:cNvSpPr txBox="1"/>
          <p:nvPr/>
        </p:nvSpPr>
        <p:spPr>
          <a:xfrm>
            <a:off x="4969565" y="434065"/>
            <a:ext cx="414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Table No:-2</a:t>
            </a:r>
          </a:p>
        </p:txBody>
      </p:sp>
    </p:spTree>
    <p:extLst>
      <p:ext uri="{BB962C8B-B14F-4D97-AF65-F5344CB8AC3E}">
        <p14:creationId xmlns:p14="http://schemas.microsoft.com/office/powerpoint/2010/main" val="276169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4998" y="412962"/>
            <a:ext cx="9404723" cy="905027"/>
          </a:xfrm>
        </p:spPr>
        <p:txBody>
          <a:bodyPr/>
          <a:lstStyle/>
          <a:p>
            <a:r>
              <a:rPr lang="en-US" b="1" u="sng" dirty="0"/>
              <a:t>Future Scope &amp; Advantages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We may commercialize the product by  developing  a wearable set up .</a:t>
            </a:r>
          </a:p>
          <a:p>
            <a:pPr algn="just"/>
            <a:r>
              <a:rPr lang="en-US" dirty="0"/>
              <a:t>Also trying to increase its efficiency to get more better result.</a:t>
            </a:r>
          </a:p>
          <a:p>
            <a:pPr algn="just"/>
            <a:r>
              <a:rPr lang="en-US" dirty="0"/>
              <a:t>This method makes the process easier for the  diagnosis of knee.</a:t>
            </a:r>
          </a:p>
          <a:p>
            <a:pPr algn="just"/>
            <a:r>
              <a:rPr lang="en-US" dirty="0"/>
              <a:t>And also saves times too in comparison of X-ray, MRI and other non-invasive as well as invasive method.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278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6620" y="191875"/>
            <a:ext cx="4654759" cy="932737"/>
          </a:xfrm>
        </p:spPr>
        <p:txBody>
          <a:bodyPr/>
          <a:lstStyle/>
          <a:p>
            <a:r>
              <a:rPr lang="en-US" b="1" u="sng" dirty="0"/>
              <a:t>References</a:t>
            </a:r>
            <a:endParaRPr lang="en-IN" b="1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1A989-C3FB-4E22-B2E0-CDCE0C19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69" y="1205948"/>
            <a:ext cx="11934185" cy="5512904"/>
          </a:xfrm>
        </p:spPr>
        <p:txBody>
          <a:bodyPr>
            <a:normAutofit lnSpcReduction="10000"/>
          </a:bodyPr>
          <a:lstStyle/>
          <a:p>
            <a:pPr marL="457200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ea typeface="Cambria" panose="02040503050406030204" pitchFamily="18" charset="0"/>
              </a:rPr>
              <a:t>Jac </a:t>
            </a:r>
            <a:r>
              <a:rPr lang="en-IN" sz="1400" dirty="0" err="1">
                <a:latin typeface="Times New Roman" panose="02020603050405020304" pitchFamily="18" charset="0"/>
                <a:ea typeface="Cambria" panose="02040503050406030204" pitchFamily="18" charset="0"/>
              </a:rPr>
              <a:t>Fredo</a:t>
            </a:r>
            <a:r>
              <a:rPr lang="en-IN" sz="1400" dirty="0">
                <a:latin typeface="Times New Roman" panose="02020603050405020304" pitchFamily="18" charset="0"/>
                <a:ea typeface="Cambria" panose="02040503050406030204" pitchFamily="18" charset="0"/>
              </a:rPr>
              <a:t>, A. R., </a:t>
            </a:r>
            <a:r>
              <a:rPr lang="en-IN" sz="1400" dirty="0" err="1">
                <a:latin typeface="Times New Roman" panose="02020603050405020304" pitchFamily="18" charset="0"/>
                <a:ea typeface="Cambria" panose="02040503050406030204" pitchFamily="18" charset="0"/>
              </a:rPr>
              <a:t>Josena</a:t>
            </a:r>
            <a:r>
              <a:rPr lang="en-IN" sz="1400" dirty="0">
                <a:latin typeface="Times New Roman" panose="02020603050405020304" pitchFamily="18" charset="0"/>
                <a:ea typeface="Cambria" panose="02040503050406030204" pitchFamily="18" charset="0"/>
              </a:rPr>
              <a:t>, T. R., </a:t>
            </a:r>
            <a:r>
              <a:rPr lang="en-IN" sz="1400" dirty="0" err="1">
                <a:latin typeface="Times New Roman" panose="02020603050405020304" pitchFamily="18" charset="0"/>
                <a:ea typeface="Cambria" panose="02040503050406030204" pitchFamily="18" charset="0"/>
              </a:rPr>
              <a:t>Palaniappan</a:t>
            </a:r>
            <a:r>
              <a:rPr lang="en-IN" sz="1400" dirty="0">
                <a:latin typeface="Times New Roman" panose="02020603050405020304" pitchFamily="18" charset="0"/>
                <a:ea typeface="Cambria" panose="02040503050406030204" pitchFamily="18" charset="0"/>
              </a:rPr>
              <a:t>, R., </a:t>
            </a:r>
            <a:r>
              <a:rPr lang="en-IN" sz="1400" dirty="0" err="1">
                <a:latin typeface="Times New Roman" panose="02020603050405020304" pitchFamily="18" charset="0"/>
                <a:ea typeface="Cambria" panose="02040503050406030204" pitchFamily="18" charset="0"/>
              </a:rPr>
              <a:t>Mythili</a:t>
            </a:r>
            <a:r>
              <a:rPr lang="en-IN" sz="1400" dirty="0">
                <a:latin typeface="Times New Roman" panose="02020603050405020304" pitchFamily="18" charset="0"/>
                <a:ea typeface="Cambria" panose="02040503050406030204" pitchFamily="18" charset="0"/>
              </a:rPr>
              <a:t>, A. (2017). Classification of normal and knee joint disorder </a:t>
            </a:r>
            <a:r>
              <a:rPr lang="en-IN" sz="1400" dirty="0" err="1">
                <a:latin typeface="Times New Roman" panose="02020603050405020304" pitchFamily="18" charset="0"/>
                <a:ea typeface="Cambria" panose="02040503050406030204" pitchFamily="18" charset="0"/>
              </a:rPr>
              <a:t>vibroarthrographic</a:t>
            </a:r>
            <a:r>
              <a:rPr lang="en-IN" sz="1400" dirty="0">
                <a:latin typeface="Times New Roman" panose="02020603050405020304" pitchFamily="18" charset="0"/>
                <a:ea typeface="Cambria" panose="02040503050406030204" pitchFamily="18" charset="0"/>
              </a:rPr>
              <a:t> signals using multifractals and support vector machines. Biomedical Engineering: Applications, Basis and Communications, 29(03), 1750016</a:t>
            </a:r>
            <a:endParaRPr lang="en-IN" sz="1400" dirty="0"/>
          </a:p>
          <a:p>
            <a:pPr marL="457200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Sharma, M., Sharma, P.,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Pachori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R. B., M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Gadre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V. (2019). Double density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dualtree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complex wavelet transform-based features for automated screening of knee-joint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vibroarthrographic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signals. In Machine intelligence and signal analysis (pp. 279-290). Springer, Singapore.</a:t>
            </a:r>
            <a:endParaRPr lang="en-IN" sz="1400" dirty="0"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57200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Krishnan, S.,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Rangayyan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R. M., Bell, G. D., Frank, C. B. (2000). Adaptive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timefrequency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analysis of knee joint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vibroarthrographic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signals for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noninvasive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screening of articular cartilage pathology. IEEE Transactions on Biomedical Engineering, 47(6), 773-783.</a:t>
            </a:r>
            <a:endParaRPr lang="en-IN" sz="1400" dirty="0"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Krishnan, Sridhar, (1999)., Adaptive signal processing techniques for analysis of knee joint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vibroarthrographic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signals., University of Calgary, 1–263, 10.11575/PRISM/23830</a:t>
            </a:r>
          </a:p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Umapathy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K., Krishnan, S. (2006). Modified local discriminant bases algorithm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andits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application in analysis of human knee joint vibration signals. IEEE Transactions on Biomedical Engineering, 53(3), 517-523.</a:t>
            </a: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Rangayyan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R. M., Wu, Y. F. (2008). Screening of knee-joint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vibroarthrographicsignals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using statistical parameters and radial basis functions. Medical and biological engineering and computing, 46(3), 223-232.</a:t>
            </a: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Rangayyan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R. M.,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Oloumi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F., Wu, Y., Cai, S. (2013). Fractal analysis of knee-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jointvibroarthrographic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signals via power spectral analysis. Biomedical Signal Processing and Control, 8(1), 23-29.</a:t>
            </a: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Shidore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M. M.,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Athreya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S. S., Deshpande, S.,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Jalnekar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R. (2021).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Screeningof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knee-joint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vibroarthrographic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signals using time and spectral domain features. Biomedical Signal Processing and Control, 68,     102808.</a:t>
            </a: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Balajee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A., Venkatesan, R. (2021). Machine learning based identification and classification of disorders in human knee joint–computational approach. Soft Computing, 25(20), 13001-13013.</a:t>
            </a:r>
          </a:p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Rangayyan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R. M., Wu, Y. (2010). Screening of knee-joint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vibroarthrographic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signals using probability density functions estimated with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Parzen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windows. Biomedical Signal Processing and Control, 5(1), 53-58.</a:t>
            </a:r>
            <a:endParaRPr lang="en-IN" sz="1400" dirty="0"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/>
            </a:pPr>
            <a:endParaRPr lang="en-IN" sz="120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/>
            </a:pPr>
            <a:endParaRPr lang="en-IN" sz="120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/>
            </a:pPr>
            <a:endParaRPr lang="en-IN" sz="12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/>
            </a:pPr>
            <a:endParaRPr lang="en-IN" sz="1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/>
            </a:pPr>
            <a:endParaRPr lang="en-IN" sz="1050" dirty="0"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/>
            </a:pPr>
            <a:endParaRPr lang="en-IN" sz="1000" dirty="0"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B40F55-CB9C-41ED-9801-54BFE6A50C1B}"/>
              </a:ext>
            </a:extLst>
          </p:cNvPr>
          <p:cNvSpPr/>
          <p:nvPr/>
        </p:nvSpPr>
        <p:spPr>
          <a:xfrm>
            <a:off x="3048000" y="26903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4DF44E-EFD7-4EB4-A14F-C2C4E23CA51F}"/>
              </a:ext>
            </a:extLst>
          </p:cNvPr>
          <p:cNvSpPr/>
          <p:nvPr/>
        </p:nvSpPr>
        <p:spPr>
          <a:xfrm>
            <a:off x="3048000" y="2414729"/>
            <a:ext cx="6096000" cy="39074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/>
            </a:pPr>
            <a:endParaRPr lang="en-IN" sz="20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A29DE-5B5F-47DD-B24A-16C5D4F030B9}"/>
              </a:ext>
            </a:extLst>
          </p:cNvPr>
          <p:cNvSpPr/>
          <p:nvPr/>
        </p:nvSpPr>
        <p:spPr>
          <a:xfrm>
            <a:off x="3048000" y="2815755"/>
            <a:ext cx="6096000" cy="39074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</a:pPr>
            <a:endParaRPr lang="en-IN" sz="20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C0C13A-EDAC-4CAC-A4D6-927ABB4C65D4}"/>
              </a:ext>
            </a:extLst>
          </p:cNvPr>
          <p:cNvSpPr/>
          <p:nvPr/>
        </p:nvSpPr>
        <p:spPr>
          <a:xfrm>
            <a:off x="3048000" y="2815755"/>
            <a:ext cx="6096000" cy="39074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/>
            </a:pPr>
            <a:endParaRPr lang="en-IN" sz="20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E60C35-E309-4B9E-A38C-B656CCAA3D2F}"/>
              </a:ext>
            </a:extLst>
          </p:cNvPr>
          <p:cNvSpPr/>
          <p:nvPr/>
        </p:nvSpPr>
        <p:spPr>
          <a:xfrm>
            <a:off x="3048000" y="2815755"/>
            <a:ext cx="6096000" cy="39074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/>
            </a:pPr>
            <a:endParaRPr lang="en-IN" sz="20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4959E9-F479-4A86-9076-CC962A698E55}"/>
              </a:ext>
            </a:extLst>
          </p:cNvPr>
          <p:cNvSpPr/>
          <p:nvPr/>
        </p:nvSpPr>
        <p:spPr>
          <a:xfrm>
            <a:off x="3048000" y="2815755"/>
            <a:ext cx="6096000" cy="39074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/>
            </a:pPr>
            <a:endParaRPr lang="en-IN" sz="20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F9761E-40B6-403A-A785-0130E81A1130}"/>
              </a:ext>
            </a:extLst>
          </p:cNvPr>
          <p:cNvSpPr/>
          <p:nvPr/>
        </p:nvSpPr>
        <p:spPr>
          <a:xfrm>
            <a:off x="3048000" y="2815755"/>
            <a:ext cx="6096000" cy="39074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</a:pPr>
            <a:endParaRPr lang="en-IN" sz="20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46DA73-5AFF-45AA-A4E5-7B0022F6DD1D}"/>
              </a:ext>
            </a:extLst>
          </p:cNvPr>
          <p:cNvSpPr/>
          <p:nvPr/>
        </p:nvSpPr>
        <p:spPr>
          <a:xfrm>
            <a:off x="3048000" y="2527664"/>
            <a:ext cx="6096000" cy="39074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</a:pPr>
            <a:endParaRPr lang="en-IN" sz="20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152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BF9F-AB97-490F-80A4-AA2C8E376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49382"/>
            <a:ext cx="9404723" cy="360219"/>
          </a:xfrm>
        </p:spPr>
        <p:txBody>
          <a:bodyPr/>
          <a:lstStyle/>
          <a:p>
            <a:r>
              <a:rPr lang="en-IN" sz="1800" dirty="0"/>
              <a:t>Conti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F749-7A43-4BE7-AF5E-D1D3C47D8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45" y="914400"/>
            <a:ext cx="10820399" cy="5333999"/>
          </a:xfrm>
        </p:spPr>
        <p:txBody>
          <a:bodyPr/>
          <a:lstStyle/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 startAt="11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Mascarenhas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E.,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Nalband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S.,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Fredo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A. J., Prince, A. A. (2020, February). Analysis and Classification of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Vibroarthrographic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Signals using Tuneable ‘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Q’Wavelet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Transform. In 2020 7th International Conference on Signal Processing and Integrated Networks (SPIN) (pp. 65-70). IEEE.</a:t>
            </a: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 startAt="11"/>
            </a:pP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Rangayyan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R. M., Krishnan, S., Bell, G. D., Frank, C. B.,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Ladly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K. O. (1997). Parametric representation and screening of knee joint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vibroarthrographic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signals. IEEE Transactions on Biomedical Engineering, 44(11), 1068-1074.</a:t>
            </a:r>
          </a:p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 startAt="11"/>
            </a:pP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Rangayyan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R. M., Wu, Y. (2009). Analysis of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vibroarthrographic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signals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withfeatures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related to signal variability and radial-basis functions. Annals of biomedical engineering, 37(1), 156-163.</a:t>
            </a:r>
          </a:p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 startAt="11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Bajaj, V.,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Pachori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R. B. (2011). Classification of seizure and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nonseizure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EEGsignals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using empirical mode decomposition. IEEE Transactions on Information Technology in Biomedicine, 16(6), 1135-1142.</a:t>
            </a: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 startAt="11"/>
            </a:pP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Pachori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R. B., Bajaj, V. (2011). Analysis of normal and epileptic seizure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EEGsignals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using empirical mode decomposition. Computer methods and programs in biomedicine, 104(3), 373-381.</a:t>
            </a: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 startAt="11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Bajaj, V.,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Pachori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R. B. (2012). EEG signal classification using empirical mode decomposition and support vector machine. In Proceedings of the International Conference on Soft Computing for Problem Solving (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SocProS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2011) December 2022, 2011 (pp. 623-635). Springer, New Delhi.</a:t>
            </a: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 startAt="11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Gupta, K.,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Khare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S. K., Bajaj, V., Ansari, I. A. (2021). Automatic detection of hypertension by flexible analytic wavelet transform using electrocardiogram signals. High Performance Computing for Intelligent Medical Systems, 1-1 to 1-18.</a:t>
            </a: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chemeClr val="tx1"/>
              </a:buClr>
              <a:buSzPts val="900"/>
              <a:buFont typeface="+mj-lt"/>
              <a:buAutoNum type="arabicPeriod" startAt="11"/>
            </a:pP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Machado, M., Flores, P., Claro, J. C.,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Ambro´sio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J., Silva, M., 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Completo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A.,</a:t>
            </a:r>
            <a:r>
              <a:rPr lang="en-IN" sz="1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Lankarani</a:t>
            </a:r>
            <a:r>
              <a:rPr lang="en-IN" sz="1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H. M. (2010). Development of a planar multibody model of the human knee joint. Nonlinear Dynamics, 60(3), 459-478.</a:t>
            </a:r>
            <a:endParaRPr lang="en-IN" sz="1400" dirty="0"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 startAt="11"/>
            </a:pPr>
            <a:endParaRPr lang="en-IN" sz="105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 startAt="11"/>
            </a:pPr>
            <a:endParaRPr lang="en-IN" sz="1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 startAt="11"/>
            </a:pPr>
            <a:endParaRPr lang="en-IN" sz="105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 startAt="11"/>
            </a:pPr>
            <a:endParaRPr lang="en-IN" sz="1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 startAt="11"/>
            </a:pPr>
            <a:endParaRPr lang="en-IN" sz="105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 startAt="11"/>
            </a:pPr>
            <a:endParaRPr lang="en-IN" sz="100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 startAt="11"/>
            </a:pPr>
            <a:endParaRPr lang="en-IN" sz="1000" dirty="0">
              <a:uFill>
                <a:solidFill>
                  <a:srgbClr val="000000"/>
                </a:solidFill>
              </a:u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lvl="0" algn="just" fontAlgn="base">
              <a:lnSpc>
                <a:spcPct val="104000"/>
              </a:lnSpc>
              <a:spcAft>
                <a:spcPts val="15"/>
              </a:spcAft>
              <a:buClr>
                <a:srgbClr val="000000"/>
              </a:buClr>
              <a:buSzPts val="900"/>
              <a:buFont typeface="+mj-lt"/>
              <a:buAutoNum type="arabicPeriod" startAt="11"/>
            </a:pPr>
            <a:endParaRPr lang="en-IN" sz="100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213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210235"/>
            <a:ext cx="8946541" cy="503816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                                       </a:t>
            </a:r>
            <a:r>
              <a:rPr lang="en-US" sz="3200" b="1" dirty="0"/>
              <a:t>THANK YOU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639745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17239</TotalTime>
  <Words>1747</Words>
  <Application>Microsoft Office PowerPoint</Application>
  <PresentationFormat>Widescreen</PresentationFormat>
  <Paragraphs>278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Cambria</vt:lpstr>
      <vt:lpstr>Century Gothic</vt:lpstr>
      <vt:lpstr>Times New Roman</vt:lpstr>
      <vt:lpstr>Wingdings 3</vt:lpstr>
      <vt:lpstr>Ion</vt:lpstr>
      <vt:lpstr> Discrimination of Normal and Abnormal Knee Joint VAG Signals Using EMD  Paper Id-92 </vt:lpstr>
      <vt:lpstr>                  Outlines</vt:lpstr>
      <vt:lpstr>               Introduction</vt:lpstr>
      <vt:lpstr>Cont….</vt:lpstr>
      <vt:lpstr>Graphical Representation of VAG</vt:lpstr>
      <vt:lpstr>Literature Survey</vt:lpstr>
      <vt:lpstr>Cont…..</vt:lpstr>
      <vt:lpstr>                     Motivation</vt:lpstr>
      <vt:lpstr>                      Work Flow</vt:lpstr>
      <vt:lpstr>                       Data Set        </vt:lpstr>
      <vt:lpstr>           Decomposition of Signals                          EMD</vt:lpstr>
      <vt:lpstr>PowerPoint Presentation</vt:lpstr>
      <vt:lpstr>                             Features Extraction</vt:lpstr>
      <vt:lpstr>             Kruskal-Wallis Test(KW Test)</vt:lpstr>
      <vt:lpstr>PowerPoint Presentation</vt:lpstr>
      <vt:lpstr>PowerPoint Presentation</vt:lpstr>
      <vt:lpstr>Future Scope &amp; Advantages</vt:lpstr>
      <vt:lpstr>References</vt:lpstr>
      <vt:lpstr>Conti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ABHISHEK SINGH(S)</dc:creator>
  <cp:lastModifiedBy>ABHISHEK SINGH</cp:lastModifiedBy>
  <cp:revision>113</cp:revision>
  <dcterms:created xsi:type="dcterms:W3CDTF">2021-11-01T11:07:48Z</dcterms:created>
  <dcterms:modified xsi:type="dcterms:W3CDTF">2022-06-08T08:25:49Z</dcterms:modified>
</cp:coreProperties>
</file>